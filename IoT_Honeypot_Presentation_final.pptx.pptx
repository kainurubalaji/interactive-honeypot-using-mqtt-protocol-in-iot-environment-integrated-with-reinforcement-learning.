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T Serif" charset="1" panose="020A0603040505020204"/>
      <p:regular r:id="rId21"/>
    </p:embeddedFont>
    <p:embeddedFont>
      <p:font typeface="DM Sans Bold" charset="1" panose="00000000000000000000"/>
      <p:regular r:id="rId22"/>
    </p:embeddedFon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421238" y="3715829"/>
            <a:ext cx="9445523" cy="18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RL-Driven Interactive IoT Multi-Service Honeypot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1238" y="5694734"/>
            <a:ext cx="9445523" cy="4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Adaptive Attacker Engagement using Deep Neural Network.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4299" y="813044"/>
            <a:ext cx="15922419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562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Problem: Static Honeypots Fail in Seconds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299" y="2919412"/>
            <a:ext cx="15922419" cy="80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Traditional honeypots respond identically to every connection — bots fingerprint them in </a:t>
            </a:r>
            <a:r>
              <a:rPr lang="en-US" sz="2125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~19 seconds</a:t>
            </a:r>
            <a:r>
              <a:rPr lang="en-US" sz="21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and disconnect. No adaptation, no human detection, and virtually zero intelligence collected.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04299" y="4264492"/>
            <a:ext cx="4620673" cy="2889790"/>
            <a:chOff x="0" y="0"/>
            <a:chExt cx="6160897" cy="38530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0897" cy="3853053"/>
            </a:xfrm>
            <a:custGeom>
              <a:avLst/>
              <a:gdLst/>
              <a:ahLst/>
              <a:cxnLst/>
              <a:rect r="r" b="b" t="t" l="l"/>
              <a:pathLst>
                <a:path h="3853053" w="6160897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6105906" y="0"/>
                  </a:lnTo>
                  <a:cubicBezTo>
                    <a:pt x="6136259" y="0"/>
                    <a:pt x="6160897" y="24638"/>
                    <a:pt x="6160897" y="54991"/>
                  </a:cubicBezTo>
                  <a:lnTo>
                    <a:pt x="6160897" y="3798062"/>
                  </a:lnTo>
                  <a:cubicBezTo>
                    <a:pt x="6160897" y="3828415"/>
                    <a:pt x="6136259" y="3853053"/>
                    <a:pt x="6105906" y="3853053"/>
                  </a:cubicBezTo>
                  <a:lnTo>
                    <a:pt x="54991" y="3853053"/>
                  </a:lnTo>
                  <a:cubicBezTo>
                    <a:pt x="24638" y="3853053"/>
                    <a:pt x="0" y="3828415"/>
                    <a:pt x="0" y="379806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3300" y="4443789"/>
            <a:ext cx="3605060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 Adaptation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3300" y="4968621"/>
            <a:ext cx="4071490" cy="188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Same response to every attacker — automated scanners detect and abandon sessions instantly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19282" y="4264492"/>
            <a:ext cx="4620863" cy="2889790"/>
            <a:chOff x="0" y="0"/>
            <a:chExt cx="6161151" cy="38530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61151" cy="3853053"/>
            </a:xfrm>
            <a:custGeom>
              <a:avLst/>
              <a:gdLst/>
              <a:ahLst/>
              <a:cxnLst/>
              <a:rect r="r" b="b" t="t" l="l"/>
              <a:pathLst>
                <a:path h="3853053" w="6161151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6106160" y="0"/>
                  </a:lnTo>
                  <a:cubicBezTo>
                    <a:pt x="6136513" y="0"/>
                    <a:pt x="6161151" y="24638"/>
                    <a:pt x="6161151" y="54991"/>
                  </a:cubicBezTo>
                  <a:lnTo>
                    <a:pt x="6161151" y="3798062"/>
                  </a:lnTo>
                  <a:cubicBezTo>
                    <a:pt x="6161151" y="3828415"/>
                    <a:pt x="6136513" y="3853053"/>
                    <a:pt x="6106160" y="3853053"/>
                  </a:cubicBezTo>
                  <a:lnTo>
                    <a:pt x="54991" y="3853053"/>
                  </a:lnTo>
                  <a:cubicBezTo>
                    <a:pt x="24638" y="3853053"/>
                    <a:pt x="0" y="3828415"/>
                    <a:pt x="0" y="3798062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093869" y="4443789"/>
            <a:ext cx="3605060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 Classification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93869" y="4968621"/>
            <a:ext cx="4071642" cy="1450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Cannot distinguish human operators from botnet scanners — all traffic treated identically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04299" y="7837265"/>
            <a:ext cx="15855001" cy="1421035"/>
            <a:chOff x="0" y="0"/>
            <a:chExt cx="21140002" cy="18947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0001" cy="1894713"/>
            </a:xfrm>
            <a:custGeom>
              <a:avLst/>
              <a:gdLst/>
              <a:ahLst/>
              <a:cxnLst/>
              <a:rect r="r" b="b" t="t" l="l"/>
              <a:pathLst>
                <a:path h="1894713" w="21140001">
                  <a:moveTo>
                    <a:pt x="0" y="49088"/>
                  </a:moveTo>
                  <a:cubicBezTo>
                    <a:pt x="0" y="21993"/>
                    <a:pt x="41087" y="0"/>
                    <a:pt x="91705" y="0"/>
                  </a:cubicBezTo>
                  <a:lnTo>
                    <a:pt x="21048297" y="0"/>
                  </a:lnTo>
                  <a:cubicBezTo>
                    <a:pt x="21098914" y="0"/>
                    <a:pt x="21140001" y="21993"/>
                    <a:pt x="21140001" y="49088"/>
                  </a:cubicBezTo>
                  <a:lnTo>
                    <a:pt x="21140001" y="1845625"/>
                  </a:lnTo>
                  <a:cubicBezTo>
                    <a:pt x="21140001" y="1872720"/>
                    <a:pt x="21098914" y="1894713"/>
                    <a:pt x="21048297" y="1894713"/>
                  </a:cubicBezTo>
                  <a:lnTo>
                    <a:pt x="91705" y="1894713"/>
                  </a:lnTo>
                  <a:cubicBezTo>
                    <a:pt x="41087" y="1894713"/>
                    <a:pt x="0" y="1872720"/>
                    <a:pt x="0" y="18456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63300" y="7868657"/>
            <a:ext cx="3605060" cy="45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81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Zero Intelligence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3300" y="8395361"/>
            <a:ext cx="8958262" cy="58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Average session of 19 seconds yields almost no actionable threat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18084"/>
            <a:ext cx="13213709" cy="100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Research Foundation &amp; The Gap We Fill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95227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Key 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091435"/>
            <a:ext cx="7805890" cy="35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Survey Paper on Honeypots and IoT</a:t>
            </a: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 (2021)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Tells about the Honeypots and IOT Protocols , already published Architecture.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AIIOT (2023)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Interactive honeypot mainly focused on the Http Protocol. Main attack they focused on the DDOS and DOS attacks. Used Q learning and MDP algorithm.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Multiport Honeypot 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2020)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RL for network defense. Closest prior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495227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Critical Gap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091435"/>
            <a:ext cx="7805890" cy="200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CyberBattleSim operates entirely in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simulation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no live protocol emulation, no real attacker traffic. This project deploys DQN agents against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live, uncontrolled attacker sessions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on real IoT services.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99397" y="6415383"/>
            <a:ext cx="7805928" cy="1658398"/>
            <a:chOff x="0" y="0"/>
            <a:chExt cx="10407904" cy="2211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07903" cy="2211197"/>
            </a:xfrm>
            <a:custGeom>
              <a:avLst/>
              <a:gdLst/>
              <a:ahLst/>
              <a:cxnLst/>
              <a:rect r="r" b="b" t="t" l="l"/>
              <a:pathLst>
                <a:path h="2211197" w="10407903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351135" y="0"/>
                  </a:lnTo>
                  <a:cubicBezTo>
                    <a:pt x="10382503" y="0"/>
                    <a:pt x="10407903" y="25400"/>
                    <a:pt x="10407903" y="56769"/>
                  </a:cubicBezTo>
                  <a:lnTo>
                    <a:pt x="10407903" y="2154428"/>
                  </a:lnTo>
                  <a:cubicBezTo>
                    <a:pt x="10407903" y="2185797"/>
                    <a:pt x="10382503" y="2211197"/>
                    <a:pt x="10351135" y="2211197"/>
                  </a:cubicBezTo>
                  <a:lnTo>
                    <a:pt x="56769" y="2211197"/>
                  </a:lnTo>
                  <a:cubicBezTo>
                    <a:pt x="25400" y="2211197"/>
                    <a:pt x="0" y="2185797"/>
                    <a:pt x="0" y="2154428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82918" y="6845503"/>
            <a:ext cx="354330" cy="283559"/>
            <a:chOff x="0" y="0"/>
            <a:chExt cx="472440" cy="37807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t="0" r="-16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420798" y="6579241"/>
            <a:ext cx="6600977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contribution: 4 independent DQN models, one per protocol, trained on live session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217" y="666750"/>
            <a:ext cx="6744891" cy="90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28002" y="1969118"/>
            <a:ext cx="8598980" cy="5817394"/>
            <a:chOff x="0" y="0"/>
            <a:chExt cx="11465306" cy="77565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465306" cy="7756525"/>
            </a:xfrm>
            <a:custGeom>
              <a:avLst/>
              <a:gdLst/>
              <a:ahLst/>
              <a:cxnLst/>
              <a:rect r="r" b="b" t="t" l="l"/>
              <a:pathLst>
                <a:path h="7756525" w="11465306">
                  <a:moveTo>
                    <a:pt x="0" y="0"/>
                  </a:moveTo>
                  <a:lnTo>
                    <a:pt x="11465306" y="0"/>
                  </a:lnTo>
                  <a:lnTo>
                    <a:pt x="11465306" y="7756525"/>
                  </a:lnTo>
                  <a:lnTo>
                    <a:pt x="0" y="7756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4" r="0" b="-4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911709" y="4147223"/>
            <a:ext cx="1565796" cy="114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Four‑Zone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61825" y="5669494"/>
            <a:ext cx="2329405" cy="7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Zone 2: Honeypot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1825" y="6440410"/>
            <a:ext cx="2329405" cy="81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4 trap services + MQTT broker + AI Brain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0" y="5656031"/>
            <a:ext cx="2329405" cy="7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Zone 3: Logging &amp;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94607" y="6576860"/>
            <a:ext cx="2329405" cy="54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MongoDB persistence and Streamlit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94607" y="2471661"/>
            <a:ext cx="2329405" cy="7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Zone 4: Offline Training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94607" y="3242577"/>
            <a:ext cx="2329405" cy="54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DQN training loop reads MongoDB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61825" y="2563320"/>
            <a:ext cx="2329405" cy="39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31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Zone 1: Attacker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1825" y="3146269"/>
            <a:ext cx="2329405" cy="54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External malicious traffic entry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719836"/>
            <a:ext cx="13514575" cy="112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0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 honeypot operates across four isolated zones: attacker traffic enters Zone 2, where per-service DQN models select engagement actions via MQTT. All session data is persisted to MongoDB for offline training and real-time dashboard visualization.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8002" y="4418416"/>
            <a:ext cx="85989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Zones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913" y="0"/>
            <a:ext cx="15806175" cy="10290094"/>
            <a:chOff x="0" y="0"/>
            <a:chExt cx="43281600" cy="28177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81600" cy="28177108"/>
            </a:xfrm>
            <a:custGeom>
              <a:avLst/>
              <a:gdLst/>
              <a:ahLst/>
              <a:cxnLst/>
              <a:rect r="r" b="b" t="t" l="l"/>
              <a:pathLst>
                <a:path h="28177108" w="43281600">
                  <a:moveTo>
                    <a:pt x="0" y="0"/>
                  </a:moveTo>
                  <a:lnTo>
                    <a:pt x="43281600" y="0"/>
                  </a:lnTo>
                  <a:lnTo>
                    <a:pt x="43281600" y="28177108"/>
                  </a:lnTo>
                  <a:lnTo>
                    <a:pt x="0" y="28177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0574"/>
            <a:ext cx="7442749" cy="100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4 Trap Services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034133"/>
            <a:ext cx="2209800" cy="1365694"/>
            <a:chOff x="0" y="0"/>
            <a:chExt cx="2946400" cy="182092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903" r="0" b="-309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5716038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SSH — Port 2222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198841"/>
            <a:ext cx="3810000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Paramiko server with fake shell, sudo trap, honeytokens.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6 actions.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56597" y="4034133"/>
            <a:ext cx="2209800" cy="1365694"/>
            <a:chOff x="0" y="0"/>
            <a:chExt cx="2946400" cy="182092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903" r="0" b="-3090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56597" y="5716038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HTTP — Port 5000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6597" y="6198841"/>
            <a:ext cx="3810152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SCADA portal with live dashboard and firmware upload capture.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5 actions.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1108" y="4034133"/>
            <a:ext cx="2209800" cy="1365694"/>
            <a:chOff x="0" y="0"/>
            <a:chExt cx="2946400" cy="182092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903" r="0" b="-3090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21108" y="5716038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FTP — Port 2121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6198841"/>
            <a:ext cx="3810152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vsFTPd emulation, fake filesystem, malware capture via STOR.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5 actions.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85609" y="4034133"/>
            <a:ext cx="2209800" cy="1365694"/>
            <a:chOff x="0" y="0"/>
            <a:chExt cx="2946400" cy="182092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946400" cy="1820926"/>
            </a:xfrm>
            <a:custGeom>
              <a:avLst/>
              <a:gdLst/>
              <a:ahLst/>
              <a:cxnLst/>
              <a:rect r="r" b="b" t="t" l="l"/>
              <a:pathLst>
                <a:path h="1820926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903" r="0" b="-3090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85609" y="5716038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Telnet — Port 2323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5609" y="6198841"/>
            <a:ext cx="3810152" cy="155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BusyBox shell, NVRAM credential dump, Mirai wget bait.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5 actions.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800395"/>
            <a:ext cx="10311851" cy="97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6"/>
              </a:lnSpc>
            </a:pPr>
            <a:r>
              <a:rPr lang="en-US" sz="574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Action Execution: SSH Example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760" y="2151307"/>
            <a:ext cx="1633448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Each trap maps action IDs to specific attacker experiences. The DQN selects the action that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maximizes expected session duration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71998" y="3512791"/>
            <a:ext cx="16343948" cy="3985927"/>
          </a:xfrm>
          <a:custGeom>
            <a:avLst/>
            <a:gdLst/>
            <a:ahLst/>
            <a:cxnLst/>
            <a:rect r="r" b="b" t="t" l="l"/>
            <a:pathLst>
              <a:path h="3985927" w="16343948">
                <a:moveTo>
                  <a:pt x="0" y="0"/>
                </a:moveTo>
                <a:lnTo>
                  <a:pt x="16343947" y="0"/>
                </a:lnTo>
                <a:lnTo>
                  <a:pt x="16343947" y="3985927"/>
                </a:lnTo>
                <a:lnTo>
                  <a:pt x="0" y="3985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65482" y="3529908"/>
            <a:ext cx="1394965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28080" y="3529908"/>
            <a:ext cx="4000652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6365" y="3529908"/>
            <a:ext cx="922630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Attacker Experience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482" y="4321378"/>
            <a:ext cx="1394965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8080" y="4321378"/>
            <a:ext cx="4000652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Limited Shell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6365" y="4321378"/>
            <a:ext cx="922630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Read-only commands — attacker frustration builds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482" y="5112839"/>
            <a:ext cx="1394965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28080" y="5112839"/>
            <a:ext cx="4000652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Fake Sudo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96365" y="5112839"/>
            <a:ext cx="922630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Password loop; wget succeeds after 3 attempts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5482" y="5904309"/>
            <a:ext cx="1394965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28080" y="5904309"/>
            <a:ext cx="4000652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Honeytoken Expose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96365" y="5904309"/>
            <a:ext cx="922630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AWS keys dropped into working directory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5482" y="6695780"/>
            <a:ext cx="1394965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28080" y="6695780"/>
            <a:ext cx="4000652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Tarpit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96365" y="6695780"/>
            <a:ext cx="9226306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5–8 second freeze per command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6760" y="7802909"/>
            <a:ext cx="16334518" cy="1626394"/>
            <a:chOff x="0" y="0"/>
            <a:chExt cx="21779357" cy="21685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79357" cy="2168525"/>
            </a:xfrm>
            <a:custGeom>
              <a:avLst/>
              <a:gdLst/>
              <a:ahLst/>
              <a:cxnLst/>
              <a:rect r="r" b="b" t="t" l="l"/>
              <a:pathLst>
                <a:path h="2168525" w="21779357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21723477" y="0"/>
                  </a:lnTo>
                  <a:cubicBezTo>
                    <a:pt x="21754339" y="0"/>
                    <a:pt x="21779357" y="25019"/>
                    <a:pt x="21779357" y="55880"/>
                  </a:cubicBezTo>
                  <a:lnTo>
                    <a:pt x="21779357" y="2112645"/>
                  </a:lnTo>
                  <a:cubicBezTo>
                    <a:pt x="21779357" y="2143506"/>
                    <a:pt x="21754339" y="2168525"/>
                    <a:pt x="21723477" y="2168525"/>
                  </a:cubicBezTo>
                  <a:lnTo>
                    <a:pt x="55880" y="2168525"/>
                  </a:lnTo>
                  <a:cubicBezTo>
                    <a:pt x="25019" y="2168525"/>
                    <a:pt x="0" y="2143506"/>
                    <a:pt x="0" y="2112645"/>
                  </a:cubicBezTo>
                  <a:close/>
                </a:path>
              </a:pathLst>
            </a:custGeom>
            <a:solidFill>
              <a:srgbClr val="FFCDB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5814" y="8221713"/>
            <a:ext cx="348901" cy="279082"/>
            <a:chOff x="0" y="0"/>
            <a:chExt cx="465201" cy="37211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65201" cy="372110"/>
            </a:xfrm>
            <a:custGeom>
              <a:avLst/>
              <a:gdLst/>
              <a:ahLst/>
              <a:cxnLst/>
              <a:rect r="r" b="b" t="t" l="l"/>
              <a:pathLst>
                <a:path h="372110" w="465201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22" t="0" r="-1419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83721" y="7975844"/>
            <a:ext cx="1514847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Q-value example: act=3 (HONEYTOKEN_EXPOSE) | Q=[[4.2 0.8 16.3 28.4 4.1 1.1]] — action 3 has the highest Q-value, so the brain chose it.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4272"/>
            <a:ext cx="13998778" cy="100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MQTT Broker: Sub-50ms Message Routing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04817" y="2377831"/>
            <a:ext cx="12678346" cy="5802535"/>
            <a:chOff x="0" y="0"/>
            <a:chExt cx="16904462" cy="773671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904463" cy="7736713"/>
            </a:xfrm>
            <a:custGeom>
              <a:avLst/>
              <a:gdLst/>
              <a:ahLst/>
              <a:cxnLst/>
              <a:rect r="r" b="b" t="t" l="l"/>
              <a:pathLst>
                <a:path h="7736713" w="1690446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" t="0" r="-24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3238988" y="3826554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395" r="0" b="-639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12726" y="6531178"/>
            <a:ext cx="2380288" cy="98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3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Execute Action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254710" y="3828088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721" t="0" r="-872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12913" y="6531178"/>
            <a:ext cx="2380288" cy="98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3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Publish Action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271204" y="3828088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557" t="0" r="-755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29407" y="6531178"/>
            <a:ext cx="2380288" cy="98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3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Route to DQN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4271391" y="3828088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487" r="0" b="-348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80683" y="6771913"/>
            <a:ext cx="2380288" cy="50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30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Publish Alert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8308772"/>
            <a:ext cx="16303523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Entire round-trip — from trap command to DQN action execution — completes in </a:t>
            </a: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under 50ms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 MQTT was chosen over REST for its lightweight pub-sub model, zero polling overhead, and native support for inter-container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687" y="1889522"/>
            <a:ext cx="7018545" cy="7018545"/>
            <a:chOff x="0" y="0"/>
            <a:chExt cx="10025634" cy="10025634"/>
          </a:xfrm>
        </p:grpSpPr>
        <p:sp>
          <p:nvSpPr>
            <p:cNvPr name="Freeform 7" id="7"/>
            <p:cNvSpPr/>
            <p:nvPr/>
          </p:nvSpPr>
          <p:spPr>
            <a:xfrm flipH="false" flipV="false" rot="6000">
              <a:off x="-8741" y="-8741"/>
              <a:ext cx="10043117" cy="10043117"/>
            </a:xfrm>
            <a:custGeom>
              <a:avLst/>
              <a:gdLst/>
              <a:ahLst/>
              <a:cxnLst/>
              <a:rect r="r" b="b" t="t" l="l"/>
              <a:pathLst>
                <a:path h="10043117" w="10043117">
                  <a:moveTo>
                    <a:pt x="0" y="17498"/>
                  </a:moveTo>
                  <a:lnTo>
                    <a:pt x="10025618" y="0"/>
                  </a:lnTo>
                  <a:lnTo>
                    <a:pt x="10043116" y="10025618"/>
                  </a:lnTo>
                  <a:lnTo>
                    <a:pt x="17498" y="10043116"/>
                  </a:lnTo>
                  <a:lnTo>
                    <a:pt x="0" y="17498"/>
                  </a:lnTo>
                  <a:close/>
                </a:path>
              </a:pathLst>
            </a:custGeom>
            <a:blipFill>
              <a:blip r:embed="rId3"/>
              <a:stretch>
                <a:fillRect l="0" t="-1948" r="0" b="-19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88620" y="1889522"/>
            <a:ext cx="3759613" cy="3759613"/>
            <a:chOff x="0" y="0"/>
            <a:chExt cx="10025634" cy="1002563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8978" y="637727"/>
            <a:ext cx="10343112" cy="77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AI Brain: Classification &amp; Decision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978" y="4192191"/>
            <a:ext cx="3995976" cy="3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State Vector → DQN → 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8978" y="4685709"/>
            <a:ext cx="7519245" cy="186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4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Each trap sends a </a:t>
            </a:r>
            <a:r>
              <a:rPr lang="en-US" sz="1749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5-element state vector</a:t>
            </a:r>
            <a:r>
              <a:rPr lang="en-US" sz="174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per command. The DQN (5→64→64→N) outputs one Q-value per action and selects the highest.</a:t>
            </a:r>
          </a:p>
          <a:p>
            <a:pPr algn="l">
              <a:lnSpc>
                <a:spcPts val="2498"/>
              </a:lnSpc>
            </a:pPr>
            <a:r>
              <a:rPr lang="en-US" sz="1749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Also used NSL - KDD dataset for offline traning the DQN. so it can have piror  knowledge </a:t>
            </a:r>
          </a:p>
          <a:p>
            <a:pPr algn="l">
              <a:lnSpc>
                <a:spcPts val="2498"/>
              </a:lnSpc>
            </a:pPr>
          </a:p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3828" y="6178829"/>
            <a:ext cx="2973886" cy="37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Attacker Classification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978" y="6692436"/>
            <a:ext cx="7519245" cy="115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099" indent="-114366" lvl="2">
              <a:lnSpc>
                <a:spcPts val="2499"/>
              </a:lnSpc>
              <a:buFont typeface="Arial"/>
              <a:buChar char="⚬"/>
            </a:pPr>
            <a:r>
              <a:rPr lang="en-US" b="true" sz="1750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botnet_scanner:</a:t>
            </a: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sessions &gt;5, avg commands &lt;4 → force tarpit</a:t>
            </a:r>
          </a:p>
          <a:p>
            <a:pPr algn="l" marL="343099" indent="-114366" lvl="2">
              <a:lnSpc>
                <a:spcPts val="2499"/>
              </a:lnSpc>
              <a:buFont typeface="Arial"/>
              <a:buChar char="⚬"/>
            </a:pPr>
            <a:r>
              <a:rPr lang="en-US" b="true" sz="1750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manual_attacker:</a:t>
            </a: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total commands &gt;15 → full DQN engagement</a:t>
            </a:r>
          </a:p>
          <a:p>
            <a:pPr algn="l" marL="343099" indent="-114366" lvl="2">
              <a:lnSpc>
                <a:spcPts val="2499"/>
              </a:lnSpc>
              <a:buFont typeface="Arial"/>
              <a:buChar char="⚬"/>
            </a:pPr>
            <a:r>
              <a:rPr lang="en-US" b="true" sz="1750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unknown:</a:t>
            </a:r>
            <a:r>
              <a:rPr lang="en-US" sz="17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default DQN policy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02759" y="3054401"/>
            <a:ext cx="14682311" cy="2567559"/>
          </a:xfrm>
          <a:custGeom>
            <a:avLst/>
            <a:gdLst/>
            <a:ahLst/>
            <a:cxnLst/>
            <a:rect r="r" b="b" t="t" l="l"/>
            <a:pathLst>
              <a:path h="2567559" w="14682311">
                <a:moveTo>
                  <a:pt x="0" y="0"/>
                </a:moveTo>
                <a:lnTo>
                  <a:pt x="14682311" y="0"/>
                </a:lnTo>
                <a:lnTo>
                  <a:pt x="14682311" y="2567559"/>
                </a:lnTo>
                <a:lnTo>
                  <a:pt x="0" y="2567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37906" y="3054401"/>
            <a:ext cx="11175665" cy="5879673"/>
          </a:xfrm>
          <a:custGeom>
            <a:avLst/>
            <a:gdLst/>
            <a:ahLst/>
            <a:cxnLst/>
            <a:rect r="r" b="b" t="t" l="l"/>
            <a:pathLst>
              <a:path h="5879673" w="11175665">
                <a:moveTo>
                  <a:pt x="0" y="0"/>
                </a:moveTo>
                <a:lnTo>
                  <a:pt x="11175666" y="0"/>
                </a:lnTo>
                <a:lnTo>
                  <a:pt x="11175666" y="5879673"/>
                </a:lnTo>
                <a:lnTo>
                  <a:pt x="0" y="5879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2" r="0" b="-5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07521" y="582063"/>
            <a:ext cx="7961414" cy="73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Dashboard, MongoDB &amp;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7521" y="1579664"/>
            <a:ext cx="14672815" cy="55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MongoDB stores attacker IP, service, all commands, actions chosen, session duration, attacker type, and uploaded files. The Streamlit dashboard displays live attack feeds, Q-value trends, and a malware file viewer — every brain decision is logged with its Q-values.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7521" y="2471290"/>
            <a:ext cx="3104793" cy="3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Session Duration: 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9720" y="3116609"/>
            <a:ext cx="367323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41766" y="3116609"/>
            <a:ext cx="2496141" cy="2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9720" y="3624415"/>
            <a:ext cx="367323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SSH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40158" y="3624415"/>
            <a:ext cx="249614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87s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9720" y="4132212"/>
            <a:ext cx="367323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FTP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40158" y="4085187"/>
            <a:ext cx="2496141" cy="2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150s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29720" y="4640018"/>
            <a:ext cx="367323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Telnet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40158" y="4591793"/>
            <a:ext cx="249614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218s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9720" y="5480072"/>
            <a:ext cx="3673231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40158" y="5480072"/>
            <a:ext cx="2496141" cy="2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117s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29720" y="5078371"/>
            <a:ext cx="3673231" cy="2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Http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40158" y="4995037"/>
            <a:ext cx="2496141" cy="268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12s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06572" y="1263164"/>
            <a:ext cx="6618445" cy="7651077"/>
          </a:xfrm>
          <a:custGeom>
            <a:avLst/>
            <a:gdLst/>
            <a:ahLst/>
            <a:cxnLst/>
            <a:rect r="r" b="b" t="t" l="l"/>
            <a:pathLst>
              <a:path h="7651077" w="6618445">
                <a:moveTo>
                  <a:pt x="0" y="0"/>
                </a:moveTo>
                <a:lnTo>
                  <a:pt x="6618444" y="0"/>
                </a:lnTo>
                <a:lnTo>
                  <a:pt x="6618444" y="7651077"/>
                </a:lnTo>
                <a:lnTo>
                  <a:pt x="0" y="7651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67" t="-1782" r="-466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47599"/>
            <a:ext cx="6516886" cy="68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Work Flow of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63838"/>
            <a:ext cx="8824760" cy="100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40981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Key Findings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37189"/>
            <a:ext cx="7805890" cy="22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Adaptavie DQN performs better than a Static Honeypot.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Sunk-cost funnel emerges without explicit programming — DQN learns to escalate engagement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Real malware samples and C2 infrastructure captured from live attackers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040981"/>
            <a:ext cx="3721303" cy="5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Future Directions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637189"/>
            <a:ext cx="7805890" cy="22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LLM-powered shells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for natural-language attacker engagement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Redis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for cross-restart IP memory and long-term attacker profiling</a:t>
            </a:r>
          </a:p>
          <a:p>
            <a:pPr algn="l" marL="428813" indent="-142938" lvl="2">
              <a:lnSpc>
                <a:spcPts val="3561"/>
              </a:lnSpc>
              <a:buFont typeface="Arial"/>
              <a:buChar char="⚬"/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SIEM integration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for automatic IOC report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DAHHLn_6kCI</dc:identifier>
  <dcterms:modified xsi:type="dcterms:W3CDTF">2011-08-01T06:04:30Z</dcterms:modified>
  <cp:revision>1</cp:revision>
  <dc:title>IoT_Honeypot_Presentation_final.pptx</dc:title>
</cp:coreProperties>
</file>